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252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42C52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42C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152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TRAINING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identify phishing attacks and protect personal and organizational information.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Supreeth M 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365760"/>
            <a:ext cx="822960" cy="822960"/>
          </a:xfrm>
          <a:prstGeom prst="ellipse">
            <a:avLst/>
          </a:prstGeom>
          <a:solidFill>
            <a:srgbClr val="E8EC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521208"/>
            <a:ext cx="512064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19659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attackers impersonate trusted organizations or individuals to steal: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889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7340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918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2369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9476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7398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details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9768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42428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information</a:t>
            </a:r>
            <a:endParaRPr lang="en-US" sz="13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80060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80160" y="47457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6355080" y="1371600"/>
            <a:ext cx="5285232" cy="484632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19" name="Text 11"/>
          <p:cNvSpPr/>
          <p:nvPr/>
        </p:nvSpPr>
        <p:spPr>
          <a:xfrm>
            <a:off x="667512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DELIVERY METHODS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6675120" y="2240280"/>
            <a:ext cx="502920" cy="502920"/>
          </a:xfrm>
          <a:prstGeom prst="ellipse">
            <a:avLst/>
          </a:prstGeom>
          <a:solidFill>
            <a:srgbClr val="242C52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992" y="2359152"/>
            <a:ext cx="265176" cy="26517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60920" y="2240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6675120" y="3017520"/>
            <a:ext cx="502920" cy="502920"/>
          </a:xfrm>
          <a:prstGeom prst="ellipse">
            <a:avLst/>
          </a:prstGeom>
          <a:solidFill>
            <a:srgbClr val="242C52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3992" y="3136392"/>
            <a:ext cx="265176" cy="26517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360920" y="3017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(Smishing)</a:t>
            </a:r>
            <a:endParaRPr lang="en-US" sz="1400" dirty="0"/>
          </a:p>
        </p:txBody>
      </p:sp>
      <p:sp>
        <p:nvSpPr>
          <p:cNvPr id="26" name="Shape 16"/>
          <p:cNvSpPr/>
          <p:nvPr/>
        </p:nvSpPr>
        <p:spPr>
          <a:xfrm>
            <a:off x="6675120" y="3794760"/>
            <a:ext cx="502920" cy="502920"/>
          </a:xfrm>
          <a:prstGeom prst="ellipse">
            <a:avLst/>
          </a:prstGeom>
          <a:solidFill>
            <a:srgbClr val="242C52"/>
          </a:solidFill>
          <a:ln/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3992" y="3913632"/>
            <a:ext cx="265176" cy="26517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360920" y="3794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(Vishing)</a:t>
            </a:r>
            <a:endParaRPr lang="en-US" sz="1400" dirty="0"/>
          </a:p>
        </p:txBody>
      </p:sp>
      <p:sp>
        <p:nvSpPr>
          <p:cNvPr id="29" name="Shape 18"/>
          <p:cNvSpPr/>
          <p:nvPr/>
        </p:nvSpPr>
        <p:spPr>
          <a:xfrm>
            <a:off x="6675120" y="4572000"/>
            <a:ext cx="502920" cy="502920"/>
          </a:xfrm>
          <a:prstGeom prst="ellipse">
            <a:avLst/>
          </a:prstGeom>
          <a:solidFill>
            <a:srgbClr val="242C52"/>
          </a:solidFill>
          <a:ln/>
        </p:spPr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3992" y="4690872"/>
            <a:ext cx="265176" cy="265176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360920" y="4572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</a:t>
            </a:r>
            <a:endParaRPr lang="en-US" sz="1400" dirty="0"/>
          </a:p>
        </p:txBody>
      </p:sp>
      <p:sp>
        <p:nvSpPr>
          <p:cNvPr id="32" name="Shape 20"/>
          <p:cNvSpPr/>
          <p:nvPr/>
        </p:nvSpPr>
        <p:spPr>
          <a:xfrm>
            <a:off x="6675120" y="5349240"/>
            <a:ext cx="502920" cy="502920"/>
          </a:xfrm>
          <a:prstGeom prst="ellipse">
            <a:avLst/>
          </a:prstGeom>
          <a:solidFill>
            <a:srgbClr val="242C52"/>
          </a:solidFill>
          <a:ln/>
        </p:spPr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3992" y="5468112"/>
            <a:ext cx="265176" cy="265176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360920" y="5349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Messages</a:t>
            </a:r>
            <a:endParaRPr lang="en-US" sz="1400" dirty="0"/>
          </a:p>
        </p:txBody>
      </p:sp>
      <p:sp>
        <p:nvSpPr>
          <p:cNvPr id="35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6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Phishing is Dangerous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PHISHING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28800" cy="15544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92024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20482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542032" y="1691640"/>
            <a:ext cx="1828800" cy="15544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182112" y="192024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0482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33472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35424" y="1691640"/>
            <a:ext cx="1828800" cy="15544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175504" y="192024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04825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26864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410712"/>
            <a:ext cx="1828800" cy="15544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188720" y="3639312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736" y="376732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" y="43251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compromise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2542032" y="3410712"/>
            <a:ext cx="1828800" cy="15544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182112" y="3639312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76732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633472" y="43251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infections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675120" y="1691640"/>
            <a:ext cx="4965192" cy="452628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25" name="Text 18"/>
          <p:cNvSpPr/>
          <p:nvPr/>
        </p:nvSpPr>
        <p:spPr>
          <a:xfrm>
            <a:off x="69951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995160" y="22860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5600" dirty="0"/>
          </a:p>
        </p:txBody>
      </p:sp>
      <p:sp>
        <p:nvSpPr>
          <p:cNvPr id="27" name="Text 20"/>
          <p:cNvSpPr/>
          <p:nvPr/>
        </p:nvSpPr>
        <p:spPr>
          <a:xfrm>
            <a:off x="6995160" y="32004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 with phishing emails.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995160" y="4069080"/>
            <a:ext cx="4297680" cy="0"/>
          </a:xfrm>
          <a:prstGeom prst="line">
            <a:avLst/>
          </a:prstGeom>
          <a:noFill/>
          <a:ln w="19050">
            <a:solidFill>
              <a:srgbClr val="242C5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995160" y="42519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3800" dirty="0"/>
          </a:p>
        </p:txBody>
      </p:sp>
      <p:sp>
        <p:nvSpPr>
          <p:cNvPr id="30" name="Text 23"/>
          <p:cNvSpPr/>
          <p:nvPr/>
        </p:nvSpPr>
        <p:spPr>
          <a:xfrm>
            <a:off x="6995160" y="49834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by businesses due to phishing scams.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Phishing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creates a fake message.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" y="2057400"/>
            <a:ext cx="0" cy="365760"/>
          </a:xfrm>
          <a:prstGeom prst="line">
            <a:avLst/>
          </a:prstGeom>
          <a:noFill/>
          <a:ln w="19050">
            <a:solidFill>
              <a:srgbClr val="5B648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receives email or message.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0100" y="2926080"/>
            <a:ext cx="0" cy="365760"/>
          </a:xfrm>
          <a:prstGeom prst="line">
            <a:avLst/>
          </a:prstGeom>
          <a:noFill/>
          <a:ln w="19050">
            <a:solidFill>
              <a:srgbClr val="5B648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malicious link.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" y="3794760"/>
            <a:ext cx="0" cy="365760"/>
          </a:xfrm>
          <a:prstGeom prst="line">
            <a:avLst/>
          </a:prstGeom>
          <a:noFill/>
          <a:ln w="19050">
            <a:solidFill>
              <a:srgbClr val="5B64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4160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 collects credentials.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100" y="4663440"/>
            <a:ext cx="0" cy="365760"/>
          </a:xfrm>
          <a:prstGeom prst="line">
            <a:avLst/>
          </a:prstGeom>
          <a:noFill/>
          <a:ln w="19050">
            <a:solidFill>
              <a:srgbClr val="5B64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5029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gains unauthorized access.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1554480"/>
            <a:ext cx="4690872" cy="4572000"/>
          </a:xfrm>
          <a:prstGeom prst="rect">
            <a:avLst/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18120" y="22402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7263D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2340864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45820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046720" y="2697480"/>
            <a:ext cx="0" cy="320040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18120" y="30175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118104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4582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8046720" y="3474720"/>
            <a:ext cx="0" cy="320040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818120" y="37947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3895344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45820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lang="en-US" sz="1350" dirty="0"/>
          </a:p>
        </p:txBody>
      </p:sp>
      <p:sp>
        <p:nvSpPr>
          <p:cNvPr id="35" name="Shape 30"/>
          <p:cNvSpPr/>
          <p:nvPr/>
        </p:nvSpPr>
        <p:spPr>
          <a:xfrm>
            <a:off x="8046720" y="4251960"/>
            <a:ext cx="0" cy="320040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818120" y="45720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7263D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4672584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45820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8046720" y="5029200"/>
            <a:ext cx="0" cy="320040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818120" y="53492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7263D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8704" y="5449824"/>
            <a:ext cx="256032" cy="25603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458200" y="5349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Data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Phishing Emails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11880" cy="17830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60934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447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08483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“Dear Customer”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“Dear User”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280160"/>
            <a:ext cx="3611880" cy="17830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481328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60934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4447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Messages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208483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“Your account will be suspended!”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3611880" cy="17830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47288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57530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107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&amp; Grammar Mistakes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05079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Poor language quality is a major red flag.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389120" y="3246120"/>
            <a:ext cx="3611880" cy="17830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17720" y="3447288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357530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34107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Attachments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663440" y="405079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invoice.zip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payment.exe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6949440" cy="77724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3492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Sender:  </a:t>
            </a:r>
            <a:r>
              <a:rPr lang="en-US" sz="1300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support@paypa1.com</a:t>
            </a:r>
            <a:r>
              <a:rPr lang="en-US" sz="13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instead of   </a:t>
            </a: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support@paypal.com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Fake Websites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CAREFULLY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EAF7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013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45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https://www.amazon.com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FBE9E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786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23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https://www.amaz0n-login.com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611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lock symbol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9651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40507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spelling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53542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44897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domain names</a:t>
            </a:r>
            <a:endParaRPr lang="en-US" sz="1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974336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60120" y="49286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popups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6675120" y="1280160"/>
            <a:ext cx="4965192" cy="493776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20" name="Text 12"/>
          <p:cNvSpPr/>
          <p:nvPr/>
        </p:nvSpPr>
        <p:spPr>
          <a:xfrm>
            <a:off x="69951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6995160" y="2057400"/>
            <a:ext cx="457200" cy="457200"/>
          </a:xfrm>
          <a:prstGeom prst="ellipse">
            <a:avLst/>
          </a:prstGeom>
          <a:solidFill>
            <a:srgbClr val="242C52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167128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63524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redirects</a:t>
            </a:r>
            <a:endParaRPr lang="en-US" sz="1450" dirty="0"/>
          </a:p>
        </p:txBody>
      </p:sp>
      <p:sp>
        <p:nvSpPr>
          <p:cNvPr id="24" name="Shape 15"/>
          <p:cNvSpPr/>
          <p:nvPr/>
        </p:nvSpPr>
        <p:spPr>
          <a:xfrm>
            <a:off x="6995160" y="2834640"/>
            <a:ext cx="457200" cy="457200"/>
          </a:xfrm>
          <a:prstGeom prst="ellipse">
            <a:avLst/>
          </a:prstGeom>
          <a:solidFill>
            <a:srgbClr val="242C52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944368"/>
            <a:ext cx="237744" cy="23774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63524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website design</a:t>
            </a:r>
            <a:endParaRPr lang="en-US" sz="1450" dirty="0"/>
          </a:p>
        </p:txBody>
      </p:sp>
      <p:sp>
        <p:nvSpPr>
          <p:cNvPr id="27" name="Shape 17"/>
          <p:cNvSpPr/>
          <p:nvPr/>
        </p:nvSpPr>
        <p:spPr>
          <a:xfrm>
            <a:off x="6995160" y="3611880"/>
            <a:ext cx="457200" cy="457200"/>
          </a:xfrm>
          <a:prstGeom prst="ellipse">
            <a:avLst/>
          </a:prstGeom>
          <a:solidFill>
            <a:srgbClr val="242C52"/>
          </a:solidFill>
          <a:ln/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721608"/>
            <a:ext cx="237744" cy="23774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63524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sensitive information</a:t>
            </a:r>
            <a:endParaRPr lang="en-US" sz="1450" dirty="0"/>
          </a:p>
        </p:txBody>
      </p:sp>
      <p:sp>
        <p:nvSpPr>
          <p:cNvPr id="30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Social Engineering?  </a:t>
            </a:r>
            <a:r>
              <a:rPr lang="en-US" sz="14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manipulation used to trick people into revealing information.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425196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6" name="Shape 4"/>
          <p:cNvSpPr/>
          <p:nvPr/>
        </p:nvSpPr>
        <p:spPr>
          <a:xfrm>
            <a:off x="1988820" y="2560320"/>
            <a:ext cx="731520" cy="7315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15" y="27505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74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Pretexting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pretends to be: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representative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7731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51572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9120" y="2240280"/>
            <a:ext cx="3611880" cy="425196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14" name="Shape 11"/>
          <p:cNvSpPr/>
          <p:nvPr/>
        </p:nvSpPr>
        <p:spPr>
          <a:xfrm>
            <a:off x="5829300" y="2560320"/>
            <a:ext cx="731520" cy="7315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495" y="275051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474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Baiting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6344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Offers: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66344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software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663440" y="47731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663440" y="51572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8229600" y="2240280"/>
            <a:ext cx="3611880" cy="425196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22" name="Shape 18"/>
          <p:cNvSpPr/>
          <p:nvPr/>
        </p:nvSpPr>
        <p:spPr>
          <a:xfrm>
            <a:off x="9669780" y="2560320"/>
            <a:ext cx="731520" cy="7315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2750515"/>
            <a:ext cx="351130" cy="35113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12480" y="3474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Scareware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50392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warnings: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503920" y="4389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“Your computer is infected!”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Phishing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Microsoft Account Alert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3017520"/>
          </a:xfrm>
          <a:prstGeom prst="rect">
            <a:avLst/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6583680" cy="548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Account Team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has been compromised.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 immediately to secure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429000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FBE9EA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4290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http://microsoft-security-check.com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40690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enters credentials  →  Attacker gains access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1554480"/>
            <a:ext cx="4233672" cy="425196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13" name="Text 10"/>
          <p:cNvSpPr/>
          <p:nvPr/>
        </p:nvSpPr>
        <p:spPr>
          <a:xfrm>
            <a:off x="77266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2331720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244144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66760" y="2331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7726680" y="3108960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321868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7726680" y="3886200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39959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66760" y="3886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sender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Yourself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ect">
            <a:avLst/>
          </a:prstGeom>
          <a:solidFill>
            <a:srgbClr val="242C5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568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identity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611880" cy="1417320"/>
          </a:xfrm>
          <a:prstGeom prst="rect">
            <a:avLst/>
          </a:prstGeom>
          <a:solidFill>
            <a:srgbClr val="242C52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95681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737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0" y="1600200"/>
            <a:ext cx="3611880" cy="1417320"/>
          </a:xfrm>
          <a:prstGeom prst="rect">
            <a:avLst/>
          </a:prstGeom>
          <a:solidFill>
            <a:srgbClr val="242C52"/>
          </a:solidFill>
          <a:ln/>
        </p:spPr>
      </p:sp>
      <p:sp>
        <p:nvSpPr>
          <p:cNvPr id="13" name="Shape 9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195681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98280" y="1737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246120"/>
            <a:ext cx="3611880" cy="1417320"/>
          </a:xfrm>
          <a:prstGeom prst="rect">
            <a:avLst/>
          </a:prstGeom>
          <a:solidFill>
            <a:srgbClr val="242C52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60273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38328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389120" y="3246120"/>
            <a:ext cx="3611880" cy="1417320"/>
          </a:xfrm>
          <a:prstGeom prst="rect">
            <a:avLst/>
          </a:prstGeom>
          <a:solidFill>
            <a:srgbClr val="242C52"/>
          </a:solidFill>
          <a:ln/>
        </p:spPr>
      </p:sp>
      <p:sp>
        <p:nvSpPr>
          <p:cNvPr id="21" name="Shape 15"/>
          <p:cNvSpPr/>
          <p:nvPr/>
        </p:nvSpPr>
        <p:spPr>
          <a:xfrm>
            <a:off x="4617720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3602736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57800" y="338328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229600" y="3246120"/>
            <a:ext cx="3611880" cy="1417320"/>
          </a:xfrm>
          <a:prstGeom prst="rect">
            <a:avLst/>
          </a:prstGeom>
          <a:solidFill>
            <a:srgbClr val="242C52"/>
          </a:solidFill>
          <a:ln/>
        </p:spPr>
      </p:sp>
      <p:sp>
        <p:nvSpPr>
          <p:cNvPr id="25" name="Shape 18"/>
          <p:cNvSpPr/>
          <p:nvPr/>
        </p:nvSpPr>
        <p:spPr>
          <a:xfrm>
            <a:off x="8458200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3602736"/>
            <a:ext cx="246888" cy="2468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98280" y="338328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downloading unknown attachments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8640" y="4892040"/>
            <a:ext cx="3611880" cy="1417320"/>
          </a:xfrm>
          <a:prstGeom prst="rect">
            <a:avLst/>
          </a:prstGeom>
          <a:solidFill>
            <a:srgbClr val="242C52"/>
          </a:solidFill>
          <a:ln/>
        </p:spPr>
      </p:sp>
      <p:sp>
        <p:nvSpPr>
          <p:cNvPr id="29" name="Shape 21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248656"/>
            <a:ext cx="246888" cy="2468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50292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If You Suspect Phishing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88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88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 links.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4068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888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888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0" y="164592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from the network if malware is suspected.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44068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5433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433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20040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 immediately.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44068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5433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5433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0" y="320040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44068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0977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977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475488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incident to IT department.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754880"/>
            <a:ext cx="544068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50977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0977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75488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device using antivirus software.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365760"/>
            <a:ext cx="822960" cy="822960"/>
          </a:xfrm>
          <a:prstGeom prst="ellipse">
            <a:avLst/>
          </a:prstGeom>
          <a:solidFill>
            <a:srgbClr val="1B224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450" y="579730"/>
            <a:ext cx="395021" cy="3950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3611880" cy="484632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3611880" cy="50292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057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a phishing indicator?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Official company domain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Strong password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39776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Urgent request for credentials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44348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HTTPS connection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5623560"/>
            <a:ext cx="3154680" cy="411480"/>
          </a:xfrm>
          <a:prstGeom prst="roundRect">
            <a:avLst>
              <a:gd name="adj" fmla="val 13333"/>
            </a:avLst>
          </a:prstGeom>
          <a:solidFill>
            <a:srgbClr val="EAF7F2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623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b="1" dirty="0">
                <a:solidFill>
                  <a:srgbClr val="0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89120" y="1371600"/>
            <a:ext cx="3611880" cy="484632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0" y="1371600"/>
            <a:ext cx="3611880" cy="50292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17720" y="2057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do before clicking a link?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617720" y="30632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Share with friends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17720" y="35204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Verify URL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617720" y="39776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Ignore security warnings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617720" y="44348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Disable antivirus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617720" y="5623560"/>
            <a:ext cx="3154680" cy="411480"/>
          </a:xfrm>
          <a:prstGeom prst="roundRect">
            <a:avLst>
              <a:gd name="adj" fmla="val 13333"/>
            </a:avLst>
          </a:prstGeom>
          <a:solidFill>
            <a:srgbClr val="EAF7F2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5623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b="1" dirty="0">
                <a:solidFill>
                  <a:srgbClr val="0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0" y="1371600"/>
            <a:ext cx="3611880" cy="4846320"/>
          </a:xfrm>
          <a:prstGeom prst="rect">
            <a:avLst/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0" y="1371600"/>
            <a:ext cx="3611880" cy="502920"/>
          </a:xfrm>
          <a:prstGeom prst="rect">
            <a:avLst/>
          </a:prstGeom>
          <a:solidFill>
            <a:srgbClr val="1B2240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58200" y="2057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MFA stand for?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458200" y="30632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Multiple File Access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458200" y="35204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Multi-Factor Authentication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458200" y="39776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Main Firewall Access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458200" y="44348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Mobile File Authorization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8458200" y="5623560"/>
            <a:ext cx="3154680" cy="411480"/>
          </a:xfrm>
          <a:prstGeom prst="roundRect">
            <a:avLst>
              <a:gd name="adj" fmla="val 13333"/>
            </a:avLst>
          </a:prstGeom>
          <a:solidFill>
            <a:srgbClr val="EAF7F2"/>
          </a:solidFill>
          <a:ln/>
        </p:spPr>
      </p:sp>
      <p:sp>
        <p:nvSpPr>
          <p:cNvPr id="34" name="Text 31"/>
          <p:cNvSpPr/>
          <p:nvPr/>
        </p:nvSpPr>
        <p:spPr>
          <a:xfrm>
            <a:off x="8458200" y="5623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b="1" dirty="0">
                <a:solidFill>
                  <a:srgbClr val="0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42C52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42C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00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1284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1671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emails and websites.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7977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73405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MFA whenever possible.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4670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30098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 about phishing techniques.</a:t>
            </a:r>
            <a:endParaRPr lang="en-US" sz="1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13632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386791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activity immediately.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8778240" y="1645920"/>
            <a:ext cx="1371600" cy="13716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2002536"/>
            <a:ext cx="658368" cy="6583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0080" y="4937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640080" y="5532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Office PowerPoint</Application>
  <PresentationFormat>Widescreen</PresentationFormat>
  <Paragraphs>189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Supreeth M C</dc:creator>
  <cp:lastModifiedBy>Supreeth M C</cp:lastModifiedBy>
  <cp:revision>1</cp:revision>
  <dcterms:created xsi:type="dcterms:W3CDTF">2026-06-21T13:11:15Z</dcterms:created>
  <dcterms:modified xsi:type="dcterms:W3CDTF">2026-06-21T13:13:40Z</dcterms:modified>
</cp:coreProperties>
</file>